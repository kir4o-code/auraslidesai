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657600" cy="256032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8B5CF6"/>
                </a:solidFill>
                <a:latin typeface="'Plus Jakarta Sans', sans-serif"/>
              </a:rPr>
              <a:t>AI-generated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469880" cy="16459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400" b="1" i="0">
                <a:solidFill>
                  <a:srgbClr val="F8FAFC"/>
                </a:solidFill>
                <a:latin typeface="'Plus Jakarta Sans', sans-serif"/>
              </a:rPr>
              <a:t>The Ubiquitous Power of Calculus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907792"/>
            <a:ext cx="9738360" cy="71323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 i="0">
                <a:solidFill>
                  <a:srgbClr val="CBD5E1"/>
                </a:solidFill>
                <a:latin typeface="'Inter', sans-serif"/>
              </a:rPr>
              <a:t>How Calculus Fuels Innovation Across STEM Disciplines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8B5CF6"/>
                </a:solidFill>
                <a:latin typeface="'Plus Jakarta Sans', sans-serif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F8FAFC"/>
                </a:solidFill>
                <a:latin typeface="'Plus Jakarta Sans', sans-serif"/>
              </a:rPr>
              <a:t>Foundations of Modern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Differential Calculus: Understanding rates of change, slopes, and optimization in dynamic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27985"/>
            <a:ext cx="1005840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Integral Calculus: Quantifying accumulation, areas under curves, and total quantities over intervals.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72307"/>
            <a:ext cx="1005840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Limits: The fundamental concept underpinning both differentiation and integration, enabling analysis of infinite processes.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6628"/>
            <a:ext cx="1005840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Infinite Series: Approximating complex functions and modeling continuous phenomena with high precision.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CBD5E1"/>
                </a:solidFill>
                <a:latin typeface="'Inter', sans-serif"/>
              </a:rPr>
              <a:t>This slide introduces the core concepts of calculus, highlighting their foundational role in scientific inquiry and problem-solving.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8B5CF6"/>
                </a:solidFill>
                <a:latin typeface="'Plus Jakarta Sans', sans-serif"/>
              </a:rPr>
              <a:t>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5303520" cy="89611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 i="0">
                <a:solidFill>
                  <a:srgbClr val="F8FAFC"/>
                </a:solidFill>
                <a:latin typeface="'Plus Jakarta Sans', sans-serif"/>
              </a:rPr>
              <a:t>Engineering Tomorrow's World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98348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Structural Analysis: Calculating stress, strain, and material fatigue to design robust bridges and buildings.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18841"/>
            <a:ext cx="498348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Aerospace Dynamics: Modeling trajectories, optimizing propulsion efficiency, and developing precise flight control systems.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63163"/>
            <a:ext cx="498348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Signal Processing: Filtering noise, compressing data, and analyzing complex waveforms in telecommunications and electronics.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07484"/>
            <a:ext cx="498348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Robotics and Automation: Designing optimal movement paths, inverse kinematics, and control algorithms for autonomous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5212080" cy="402336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CBD5E1"/>
                </a:solidFill>
                <a:latin typeface="'Inter', sans-serif"/>
              </a:rPr>
              <a:t>This slide showcases the critical applications of calculus in various engineering disciplines, from civil to aerospace and robotics.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572000" cy="7315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8FAFC"/>
                </a:solidFill>
                <a:latin typeface="'Inter', sans-serif"/>
              </a:rPr>
              <a:t>A sleek, modern engineering lab with a robotic arm precisely assembling a component, with complex mathematical equations subtly projected onto a glass screen in the background, 16:9 aspect ratio.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8B5CF6"/>
                </a:solidFill>
                <a:latin typeface="'Plus Jakarta Sans', sans-serif"/>
              </a:rPr>
              <a:t>Key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424160" cy="786384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3100" b="1" i="0">
                <a:solidFill>
                  <a:srgbClr val="F8FAFC"/>
                </a:solidFill>
                <a:latin typeface="'Plus Jakarta Sans', sans-serif"/>
              </a:rPr>
              <a:t>Unlocking Biological Secrets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83664"/>
            <a:ext cx="1005840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Population Dynamics: Modeling growth, decay, and interaction of species in ecosystems using differential equations.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27985"/>
            <a:ext cx="1005840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Pharmacokinetics: Determining optimal drug dosage, absorption rates, and elimination from the body for effective treatments.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72307"/>
            <a:ext cx="1005840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Medical Imaging: Reconstructing detailed 3D images from raw data in technologies like MRI, CT scans, and ultrasound.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6628"/>
            <a:ext cx="1005840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Epidemic Modeling: Predicting disease spread, evaluating intervention strategies, and understanding viral transmission patterns.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07024"/>
            <a:ext cx="9875520" cy="384048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CBD5E1"/>
                </a:solidFill>
                <a:latin typeface="'Inter', sans-serif"/>
              </a:rPr>
              <a:t>This slide illustrates how calculus provides the mathematical framework for understanding complex biological processes and advancing medical science.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100000">
                <a:srgbClr val="1E293B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3200400" cy="256032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i="0">
                <a:solidFill>
                  <a:srgbClr val="8B5CF6"/>
                </a:solidFill>
                <a:latin typeface="'Plus Jakarta Sans', sans-serif"/>
              </a:rPr>
              <a:t>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5303520" cy="896112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 i="0">
                <a:solidFill>
                  <a:srgbClr val="F8FAFC"/>
                </a:solidFill>
                <a:latin typeface="'Plus Jakarta Sans', sans-serif"/>
              </a:rPr>
              <a:t>Quantifying Risk and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498348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Financial Modeling: Pricing derivatives, managing investment portfolios, and predicting market trends with stochastic calculus.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18841"/>
            <a:ext cx="498348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Machine Learning: Optimizing algorithms through gradient descent and minimizing loss functions for predictive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363163"/>
            <a:ext cx="498348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Data Analysis: Understanding distributions, probabilities, and statistical inference for extracting insights from large datasets.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107484"/>
            <a:ext cx="4983480" cy="563270"/>
          </a:xfrm>
          <a:prstGeom prst="rect">
            <a:avLst/>
          </a:prstGeom>
          <a:noFill/>
        </p:spPr>
        <p:txBody>
          <a:bodyPr wrap="square" anchor="t" lIns="70408" rIns="70408" tIns="50292" bIns="50292">
            <a:noAutofit/>
          </a:bodyPr>
          <a:lstStyle/>
          <a:p>
            <a:pPr algn="l">
              <a:lnSpc>
                <a:spcPct val="1152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0" i="0">
                <a:solidFill>
                  <a:srgbClr val="F8FAFC"/>
                </a:solidFill>
                <a:latin typeface="'Inter', sans-serif"/>
              </a:rPr>
              <a:t>• Predictive Analytics: Forecasting future outcomes and identifying hidden patterns in complex data streams for strategic decision-making.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760720"/>
            <a:ext cx="5212080" cy="402336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 i="0">
                <a:solidFill>
                  <a:srgbClr val="CBD5E1"/>
                </a:solidFill>
                <a:latin typeface="'Inter', sans-serif"/>
              </a:rPr>
              <a:t>This final slide emphasizes the indispensable role of calculus in modern finance, data science, and the broader field of artificial intelligence.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14600"/>
            <a:ext cx="4572000" cy="731520"/>
          </a:xfrm>
          <a:prstGeom prst="rect">
            <a:avLst/>
          </a:prstGeom>
          <a:noFill/>
        </p:spPr>
        <p:txBody>
          <a:bodyPr wrap="square" anchor="t" lIns="64008" rIns="64008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F8FAFC"/>
                </a:solidFill>
                <a:latin typeface="'Inter', sans-serif"/>
              </a:rPr>
              <a:t>A professional, modern office setting with a diverse team collaborating around a large interactive screen displaying financial charts, complex data visualizations, and subtle mathematical symbols integrated into the design, 16:9 aspect ratio.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Ubiquitous Power of Calculus</dc:title>
  <dc:subject>AuraSlidesAi presentation export</dc:subject>
  <dc:creator>AuraSlidesAi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