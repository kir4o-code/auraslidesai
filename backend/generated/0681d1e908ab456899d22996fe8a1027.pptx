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445752" cy="201168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5700" b="1" i="0">
                <a:solidFill>
                  <a:srgbClr val="F8FAFC"/>
                </a:solidFill>
                <a:latin typeface="'Plus Jakarta Sans', sans-serif"/>
              </a:rPr>
              <a:t>The Ubiquitous Power of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0" i="0">
                <a:solidFill>
                  <a:srgbClr val="CBD5E1"/>
                </a:solidFill>
                <a:latin typeface="'Inter', sans-serif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91440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 i="0">
                <a:solidFill>
                  <a:srgbClr val="F8FAFC"/>
                </a:solidFill>
                <a:latin typeface="'Plus Jakarta Sans', sans-serif"/>
              </a:rPr>
              <a:t>Calculus: Foundation of Modern 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Quantifies change and accumulation precisely.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460089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Essential for modeling complex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42739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Drives scientific discovery, engineering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625388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Underpins data analysis, AI advancements.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100" b="1" i="0">
                <a:solidFill>
                  <a:srgbClr val="F8FAFC"/>
                </a:solidFill>
                <a:latin typeface="'Plus Jakarta Sans', sans-serif"/>
              </a:rPr>
              <a:t>Engineering &amp; Physics Breakthroughs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Optimizing structural designs efficiently.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22929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Predicting planetary motion accurately.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05579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Analyzing complex fluid dynamics.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488228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Designing advanced electronic circuits.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8FAFC"/>
                </a:solidFill>
                <a:latin typeface="'Inter', sans-serif"/>
              </a:rPr>
              <a:t>A blueprint overlaying a complex bridge structure with a subtle cosmic background, 16:9 aspect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100" b="1" i="0">
                <a:solidFill>
                  <a:srgbClr val="F8FAFC"/>
                </a:solidFill>
                <a:latin typeface="'Plus Jakarta Sans', sans-serif"/>
              </a:rPr>
              <a:t>Diverse Fields, Common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Modeling population growth dynamics.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22929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Optimizing economic strategies and forecasts.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05579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Training sophisticated machine learning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488228"/>
            <a:ext cx="484632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Understanding drug pharmacokinetics in medicine.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8FAFC"/>
                </a:solidFill>
                <a:latin typeface="'Inter', sans-serif"/>
              </a:rPr>
              <a:t>Abstract visualization of interconnected data points, growth curves, and neural network nodes, 16:9 aspect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91440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5000" b="1" i="0">
                <a:solidFill>
                  <a:srgbClr val="F8FAFC"/>
                </a:solidFill>
                <a:latin typeface="'Plus Jakarta Sans', sans-serif"/>
              </a:rPr>
              <a:t>Calculus: Shaping Our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Continues to drive innovation relentlessly.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460089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Essential for future technological advances.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42739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Empowers problem-solvers globally.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625388"/>
            <a:ext cx="9601200" cy="819302"/>
          </a:xfrm>
          <a:prstGeom prst="rect">
            <a:avLst/>
          </a:prstGeom>
          <a:noFill/>
        </p:spPr>
        <p:txBody>
          <a:bodyPr wrap="square" anchor="t" lIns="102412" rIns="102412" tIns="73152" bIns="73152">
            <a:noAutofit/>
          </a:bodyPr>
          <a:lstStyle/>
          <a:p>
            <a:pPr algn="l">
              <a:lnSpc>
                <a:spcPct val="1212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 i="0">
                <a:solidFill>
                  <a:srgbClr val="F8FAFC"/>
                </a:solidFill>
                <a:latin typeface="'Inter', sans-serif"/>
              </a:rPr>
              <a:t>• A timeless, indispensable intellectual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