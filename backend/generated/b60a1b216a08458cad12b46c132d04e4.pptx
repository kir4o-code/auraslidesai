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91640"/>
            <a:ext cx="9445752" cy="201168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 i="0">
                <a:solidFill>
                  <a:srgbClr val="F8FAFC"/>
                </a:solidFill>
                <a:latin typeface="'Plus Jakarta Sans', sans-serif"/>
              </a:rPr>
              <a:t>The Ubiquitous Power of Calculus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926080"/>
            <a:ext cx="9738360" cy="7132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CBD5E1"/>
                </a:solidFill>
                <a:latin typeface="'Inter', sans-serif"/>
              </a:rPr>
              <a:t>How Calculus Fuels Innovation Across STEM Disciplines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372600" cy="54864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BD5E1"/>
                </a:solidFill>
                <a:latin typeface="'Inter', sans-serif"/>
              </a:rPr>
              <a:t>This presentation will explore the foundational role of calculus in driving innovation across various scientific, technological, engineering, and mathematical fields.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9966960" cy="91440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F8FAFC"/>
                </a:solidFill>
                <a:latin typeface="'Plus Jakarta Sans', sans-serif"/>
              </a:rPr>
              <a:t>Fundamental Principles Driving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377440"/>
            <a:ext cx="960120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Differential Calculus: Analyzing rates of change, optimization, and instantaneous slopes, crucial for understanding dynamic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121761"/>
            <a:ext cx="960120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Integral Calculus: Quantifying accumulation, areas under curves, and total quantities, essential for summing continuous effects.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66083"/>
            <a:ext cx="960120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Multivariable Calculus: Extending concepts to higher dimensions, enabling analysis of complex, interdependent systems and fields.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4610404"/>
            <a:ext cx="960120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Differential Equations: Modeling dynamic processes and predicting future states, forming the backbone of scientific simulation.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852160"/>
            <a:ext cx="9875520" cy="38404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CBD5E1"/>
                </a:solidFill>
                <a:latin typeface="'Inter', sans-serif"/>
              </a:rPr>
              <a:t>We'll delve into how these core concepts provide the mathematical framework for solving real-world problems and pushing boundaries.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5303520" cy="89611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8FAFC"/>
                </a:solidFill>
                <a:latin typeface="'Plus Jakarta Sans', sans-serif"/>
              </a:rPr>
              <a:t>Engineering Marvels and Physical Laws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240280"/>
            <a:ext cx="484632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Aerospace Engineering: Trajectory optimization, fluid dynamics for wing design, and structural integrity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84601"/>
            <a:ext cx="484632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Electrical Engineering: Circuit analysis, signal processing, and understanding electromagnetic field theory.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728923"/>
            <a:ext cx="484632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Mechanical Engineering: Stress analysis, vibration control, and heat transfer modeling in complex machinery.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473244"/>
            <a:ext cx="484632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Physics: Describing motion, forces, energy conservation, and the principles of quantum mechanics.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852160"/>
            <a:ext cx="5212080" cy="402336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CBD5E1"/>
                </a:solidFill>
                <a:latin typeface="'Inter', sans-serif"/>
              </a:rPr>
              <a:t>From designing efficient aircraft to developing advanced electronics, calculus provides the precision needed for groundbreaking engineering and scientific understanding.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14600"/>
            <a:ext cx="4572000" cy="73152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8FAFC"/>
                </a:solidFill>
                <a:latin typeface="'Inter', sans-serif"/>
              </a:rPr>
              <a:t>A professional, dynamic image showing engineers collaborating on a complex aerospace design, with mathematical equations subtly overlaid on schematics, representing advanced engineering principles, 16:9 aspect ratio.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9966960" cy="77724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100" b="1" i="0">
                <a:solidFill>
                  <a:srgbClr val="F8FAFC"/>
                </a:solidFill>
                <a:latin typeface="'Plus Jakarta Sans', sans-serif"/>
              </a:rPr>
              <a:t>Quantifying Calculus's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324612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500" b="1" i="0">
                <a:solidFill>
                  <a:srgbClr val="8B5CF6"/>
                </a:solidFill>
                <a:latin typeface="'Plus Jakarta Sans', sans-serif"/>
              </a:rPr>
              <a:t>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52928"/>
            <a:ext cx="3246120" cy="29260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8FAFC"/>
                </a:solidFill>
                <a:latin typeface="'Plus Jakarta Sans', sans-serif"/>
              </a:rPr>
              <a:t>Global GDP influenced by STEM innovations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82112"/>
            <a:ext cx="3246120" cy="36576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CBD5E1"/>
                </a:solidFill>
                <a:latin typeface="'Inter', sans-serif"/>
              </a:rPr>
              <a:t>Directly or indirectly reliant on calculus-based research and development across industries.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194560"/>
            <a:ext cx="324612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500" b="1" i="0">
                <a:solidFill>
                  <a:srgbClr val="8B5CF6"/>
                </a:solidFill>
                <a:latin typeface="'Plus Jakarta Sans', sans-serif"/>
              </a:rPr>
              <a:t>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852928"/>
            <a:ext cx="3246120" cy="29260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8FAFC"/>
                </a:solidFill>
                <a:latin typeface="'Plus Jakarta Sans', sans-serif"/>
              </a:rPr>
              <a:t>Reduction in product development cycles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182112"/>
            <a:ext cx="3246120" cy="36576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CBD5E1"/>
                </a:solidFill>
                <a:latin typeface="'Inter', sans-serif"/>
              </a:rPr>
              <a:t>Achieved through advanced simulation and optimization techniques powered by calculus.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194560"/>
            <a:ext cx="3246120" cy="56692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500" b="1" i="0">
                <a:solidFill>
                  <a:srgbClr val="8B5CF6"/>
                </a:solidFill>
                <a:latin typeface="'Plus Jakarta Sans', sans-serif"/>
              </a:rPr>
              <a:t>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852928"/>
            <a:ext cx="3246120" cy="29260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8FAFC"/>
                </a:solidFill>
                <a:latin typeface="'Plus Jakarta Sans', sans-serif"/>
              </a:rPr>
              <a:t>Accuracy improvement in predictive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182112"/>
            <a:ext cx="3246120" cy="36576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CBD5E1"/>
                </a:solidFill>
                <a:latin typeface="'Inter', sans-serif"/>
              </a:rPr>
              <a:t>In fields like climate science, financial forecasting, and medical imaging, driven by differential equations.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418320" cy="25420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 i="0">
                <a:solidFill>
                  <a:srgbClr val="F8FAFC"/>
                </a:solidFill>
                <a:latin typeface="'Plus Jakarta Sans', sans-serif"/>
              </a:rPr>
              <a:t>Calculus is the most powerful weapon of thought yet forged by the wit of man.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407408"/>
            <a:ext cx="8595360" cy="402336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CBD5E1"/>
                </a:solidFill>
                <a:latin typeface="'Inter', sans-serif"/>
              </a:rPr>
              <a:t>Richard Courant, Mathematician and Author of 'What is Mathematics?'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Ubiquitous Power of Calculus</dc:title>
  <dc:subject>AuraSlidesAi presentation export</dc:subject>
  <dc:creator>AuraSlidesAi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